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Calibri (MS)" charset="1" panose="020F0502020204030204"/>
      <p:regular r:id="rId15"/>
    </p:embeddedFont>
    <p:embeddedFont>
      <p:font typeface="Source Sans 3" charset="1" panose="020B0303030403020204"/>
      <p:regular r:id="rId16"/>
    </p:embeddedFont>
    <p:embeddedFont>
      <p:font typeface="Montserrat Bold" charset="1" panose="00000800000000000000"/>
      <p:regular r:id="rId17"/>
    </p:embeddedFont>
    <p:embeddedFont>
      <p:font typeface="Arimo" charset="1" panose="020B0604020202020204"/>
      <p:regular r:id="rId18"/>
    </p:embeddedFont>
    <p:embeddedFont>
      <p:font typeface="Arimo Bold" charset="1" panose="020B0704020202020204"/>
      <p:regular r:id="rId19"/>
    </p:embeddedFont>
    <p:embeddedFont>
      <p:font typeface="Lora" charset="1" panose="00000500000000000000"/>
      <p:regular r:id="rId20"/>
    </p:embeddedFont>
    <p:embeddedFont>
      <p:font typeface="Helvetica World Bold" charset="1" panose="020B0800040000020004"/>
      <p:regular r:id="rId21"/>
    </p:embeddedFont>
    <p:embeddedFont>
      <p:font typeface="Trade Gothic Condensed Bold" charset="1" panose="020B0806040303020004"/>
      <p:regular r:id="rId25"/>
    </p:embeddedFont>
    <p:embeddedFont>
      <p:font typeface="Source Sans 3 Bold" charset="1" panose="020B0303030403020204"/>
      <p:regular r:id="rId26"/>
    </p:embeddedFont>
    <p:embeddedFont>
      <p:font typeface="Open Sauce Bold" charset="1" panose="00000800000000000000"/>
      <p:regular r:id="rId28"/>
    </p:embeddedFont>
    <p:embeddedFont>
      <p:font typeface="Open Sauce" charset="1" panose="00000500000000000000"/>
      <p:regular r:id="rId29"/>
    </p:embeddedFont>
    <p:embeddedFont>
      <p:font typeface="Public Sans Bold" charset="1" panose="00000000000000000000"/>
      <p:regular r:id="rId30"/>
    </p:embeddedFont>
    <p:embeddedFont>
      <p:font typeface="Public Sans" charset="1" panose="00000000000000000000"/>
      <p:regular r:id="rId31"/>
    </p:embeddedFont>
    <p:embeddedFont>
      <p:font typeface="Arimo Italics" charset="1" panose="020B060402020209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sv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media/image33.png" Type="http://schemas.openxmlformats.org/officeDocument/2006/relationships/image"/><Relationship Id="rId16" Target="../media/image34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://www.aecouncil.com/AECDocuments.html" TargetMode="External" Type="http://schemas.openxmlformats.org/officeDocument/2006/relationships/hyperlink"/><Relationship Id="rId11" Target="https://nepp.nasa.gov" TargetMode="External" Type="http://schemas.openxmlformats.org/officeDocument/2006/relationships/hyperlink"/><Relationship Id="rId12" Target="https://www.jedec.org/standards-documents" TargetMode="External" Type="http://schemas.openxmlformats.org/officeDocument/2006/relationships/hyperlink"/><Relationship Id="rId13" Target="https://doi.org/10.1007/978-3-031-59361-1_5" TargetMode="External" Type="http://schemas.openxmlformats.org/officeDocument/2006/relationships/hyperlink"/><Relationship Id="rId14" Target="https://www.ncbi.nlm.nih.gov/pmc/articles/PMC3859076/" TargetMode="External" Type="http://schemas.openxmlformats.org/officeDocument/2006/relationships/hyperlink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https://ieeexplore.ieee.org/document/4781136" TargetMode="External" Type="http://schemas.openxmlformats.org/officeDocument/2006/relationships/hyperlink"/><Relationship Id="rId6" Target="https://ieeexplore.ieee.org/document/9737003" TargetMode="External" Type="http://schemas.openxmlformats.org/officeDocument/2006/relationships/hyperlink"/><Relationship Id="rId7" Target="https://arxiv.org/abs/1905.03222" TargetMode="External" Type="http://schemas.openxmlformats.org/officeDocument/2006/relationships/hyperlink"/><Relationship Id="rId8" Target="https://arxiv.org/abs/1811.10154" TargetMode="External" Type="http://schemas.openxmlformats.org/officeDocument/2006/relationships/hyperlink"/><Relationship Id="rId9" Target="https://www.dla.mil/Land-and-Maritime/Business/Standardization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3150870"/>
            <a:ext cx="8703945" cy="636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</a:p>
          <a:p>
            <a:pPr algn="just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26170</a:t>
            </a:r>
          </a:p>
          <a:p>
            <a:pPr algn="just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AI-Driven Anomaly Detection in Component Burn-In &amp; Screening</a:t>
            </a:r>
          </a:p>
          <a:p>
            <a:pPr algn="just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Theme-Smart Automation</a:t>
            </a:r>
          </a:p>
          <a:p>
            <a:pPr algn="just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Agamemnon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9630" y="-338227"/>
            <a:ext cx="16459200" cy="1724429"/>
            <a:chOff x="0" y="0"/>
            <a:chExt cx="21945600" cy="22992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99238"/>
            </a:xfrm>
            <a:custGeom>
              <a:avLst/>
              <a:gdLst/>
              <a:ahLst/>
              <a:cxnLst/>
              <a:rect r="r" b="b" t="t" l="l"/>
              <a:pathLst>
                <a:path h="229923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99238"/>
                  </a:lnTo>
                  <a:lnTo>
                    <a:pt x="0" y="2299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267" r="0" b="-1356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27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DRISHTI — AI-Driven Component Screening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612" y="359321"/>
            <a:ext cx="2411166" cy="1249101"/>
            <a:chOff x="0" y="0"/>
            <a:chExt cx="3214888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3214840" cy="1665481"/>
            </a:xfrm>
            <a:custGeom>
              <a:avLst/>
              <a:gdLst/>
              <a:ahLst/>
              <a:cxnLst/>
              <a:rect r="r" b="b" t="t" l="l"/>
              <a:pathLst>
                <a:path h="1665481" w="3214840">
                  <a:moveTo>
                    <a:pt x="0" y="832740"/>
                  </a:moveTo>
                  <a:cubicBezTo>
                    <a:pt x="0" y="372873"/>
                    <a:pt x="719719" y="0"/>
                    <a:pt x="1607420" y="0"/>
                  </a:cubicBezTo>
                  <a:cubicBezTo>
                    <a:pt x="2495121" y="0"/>
                    <a:pt x="3214840" y="372873"/>
                    <a:pt x="3214840" y="832740"/>
                  </a:cubicBezTo>
                  <a:cubicBezTo>
                    <a:pt x="3214840" y="1292608"/>
                    <a:pt x="2495121" y="1665481"/>
                    <a:pt x="1607420" y="1665481"/>
                  </a:cubicBezTo>
                  <a:cubicBezTo>
                    <a:pt x="719719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214888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Agamemnon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144000" y="1595752"/>
            <a:ext cx="8800621" cy="4985162"/>
          </a:xfrm>
          <a:custGeom>
            <a:avLst/>
            <a:gdLst/>
            <a:ahLst/>
            <a:cxnLst/>
            <a:rect r="r" b="b" t="t" l="l"/>
            <a:pathLst>
              <a:path h="4985162" w="8800621">
                <a:moveTo>
                  <a:pt x="0" y="0"/>
                </a:moveTo>
                <a:lnTo>
                  <a:pt x="8800621" y="0"/>
                </a:lnTo>
                <a:lnTo>
                  <a:pt x="8800621" y="4985162"/>
                </a:lnTo>
                <a:lnTo>
                  <a:pt x="0" y="4985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364086" y="6773118"/>
            <a:ext cx="8480408" cy="2421792"/>
            <a:chOff x="0" y="0"/>
            <a:chExt cx="1269227" cy="3624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9227" cy="362459"/>
            </a:xfrm>
            <a:custGeom>
              <a:avLst/>
              <a:gdLst/>
              <a:ahLst/>
              <a:cxnLst/>
              <a:rect r="r" b="b" t="t" l="l"/>
              <a:pathLst>
                <a:path h="362459" w="1269227">
                  <a:moveTo>
                    <a:pt x="8559" y="0"/>
                  </a:moveTo>
                  <a:lnTo>
                    <a:pt x="1260669" y="0"/>
                  </a:lnTo>
                  <a:cubicBezTo>
                    <a:pt x="1265395" y="0"/>
                    <a:pt x="1269227" y="3832"/>
                    <a:pt x="1269227" y="8559"/>
                  </a:cubicBezTo>
                  <a:lnTo>
                    <a:pt x="1269227" y="353901"/>
                  </a:lnTo>
                  <a:cubicBezTo>
                    <a:pt x="1269227" y="358628"/>
                    <a:pt x="1265395" y="362459"/>
                    <a:pt x="1260669" y="362459"/>
                  </a:cubicBezTo>
                  <a:lnTo>
                    <a:pt x="8559" y="362459"/>
                  </a:lnTo>
                  <a:cubicBezTo>
                    <a:pt x="3832" y="362459"/>
                    <a:pt x="0" y="358628"/>
                    <a:pt x="0" y="353901"/>
                  </a:cubicBezTo>
                  <a:lnTo>
                    <a:pt x="0" y="8559"/>
                  </a:lnTo>
                  <a:cubicBezTo>
                    <a:pt x="0" y="3832"/>
                    <a:pt x="3832" y="0"/>
                    <a:pt x="8559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69227" cy="371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85137" y="5116534"/>
            <a:ext cx="8668388" cy="185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024" indent="-215512" lvl="1">
              <a:lnSpc>
                <a:spcPts val="2941"/>
              </a:lnSpc>
              <a:buFont typeface="Arial"/>
              <a:buChar char="•"/>
            </a:pPr>
            <a:r>
              <a:rPr lang="en-US" sz="238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45 µA leakage vs. 10 µA lot average — still passes the 50 µA limit</a:t>
            </a:r>
          </a:p>
          <a:p>
            <a:pPr algn="l" marL="431024" indent="-215512" lvl="1">
              <a:lnSpc>
                <a:spcPts val="2941"/>
              </a:lnSpc>
              <a:buFont typeface="Arial"/>
              <a:buChar char="•"/>
            </a:pPr>
            <a:r>
              <a:rPr lang="en-US" sz="238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Compares parts to a fixed datasheet limit, not their lot behavior</a:t>
            </a:r>
          </a:p>
          <a:p>
            <a:pPr algn="l" marL="431024" indent="-215512" lvl="1">
              <a:lnSpc>
                <a:spcPts val="2941"/>
              </a:lnSpc>
              <a:buFont typeface="Arial"/>
              <a:buChar char="•"/>
            </a:pPr>
            <a:r>
              <a:rPr lang="en-US" sz="238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sees where a part is, not where it is heading</a:t>
            </a:r>
          </a:p>
          <a:p>
            <a:pPr algn="l" marL="431057" indent="-215528" lvl="1">
              <a:lnSpc>
                <a:spcPts val="2941"/>
              </a:lnSpc>
              <a:buFont typeface="Arial"/>
              <a:buChar char="•"/>
            </a:pPr>
            <a:r>
              <a:rPr lang="en-US" sz="238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gives a pass/fail with no reason a QA inspector can review</a:t>
            </a:r>
          </a:p>
          <a:p>
            <a:pPr algn="l">
              <a:lnSpc>
                <a:spcPts val="2941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75612" y="1761829"/>
            <a:ext cx="3234571" cy="42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b="true" sz="2685" spc="-2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Solution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5612" y="2345174"/>
            <a:ext cx="8433618" cy="185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0708" indent="-215354" lvl="1">
              <a:lnSpc>
                <a:spcPts val="2939"/>
              </a:lnSpc>
              <a:buFont typeface="Arial"/>
              <a:buChar char="•"/>
            </a:pPr>
            <a:r>
              <a:rPr lang="en-US" sz="2378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DRISHTI judges every part against its own manufacturing lot and predicts where it will be at 168 hours, using only the first 24 hours of data</a:t>
            </a:r>
          </a:p>
          <a:p>
            <a:pPr algn="l" marL="430708" indent="-215354" lvl="1">
              <a:lnSpc>
                <a:spcPts val="2939"/>
              </a:lnSpc>
              <a:buFont typeface="Arial"/>
              <a:buChar char="•"/>
            </a:pPr>
            <a:r>
              <a:rPr lang="en-US" sz="2378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Verdict for every part: PASS, FAIL, or ESCALATE, with a stated reason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9933" y="4564498"/>
            <a:ext cx="5274112" cy="42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b="true" sz="2685" spc="-2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addresses the problem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612" y="7179252"/>
            <a:ext cx="4787027" cy="42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b="true" sz="2685" spc="-2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Innovation and uniqueness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5612" y="7762584"/>
            <a:ext cx="6633700" cy="185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0675" indent="-215337" lvl="1">
              <a:lnSpc>
                <a:spcPts val="2939"/>
              </a:lnSpc>
              <a:buFont typeface="Arial"/>
              <a:buChar char="•"/>
            </a:pPr>
            <a:r>
              <a:rPr lang="en-US" sz="2378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Lot-relative limits catch hidden outliers</a:t>
            </a:r>
          </a:p>
          <a:p>
            <a:pPr algn="l" marL="430675" indent="-215337" lvl="1">
              <a:lnSpc>
                <a:spcPts val="2939"/>
              </a:lnSpc>
              <a:buFont typeface="Arial"/>
              <a:buChar char="•"/>
            </a:pPr>
            <a:r>
              <a:rPr lang="en-US" sz="2378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Forecast uncertainty prevents risky escapes</a:t>
            </a:r>
          </a:p>
          <a:p>
            <a:pPr algn="l" marL="430675" indent="-215337" lvl="1">
              <a:lnSpc>
                <a:spcPts val="2939"/>
              </a:lnSpc>
              <a:buFont typeface="Arial"/>
              <a:buChar char="•"/>
            </a:pPr>
            <a:r>
              <a:rPr lang="en-US" sz="2378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Uncertain parts get extra burn-in</a:t>
            </a:r>
          </a:p>
          <a:p>
            <a:pPr algn="l" marL="430675" indent="-215337" lvl="1">
              <a:lnSpc>
                <a:spcPts val="2939"/>
              </a:lnSpc>
              <a:buFont typeface="Arial"/>
              <a:buChar char="•"/>
            </a:pPr>
            <a:r>
              <a:rPr lang="en-US" sz="2378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Drift shape suggests the failure mechanism</a:t>
            </a:r>
          </a:p>
          <a:p>
            <a:pPr algn="l">
              <a:lnSpc>
                <a:spcPts val="293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538637" y="6919491"/>
            <a:ext cx="5306043" cy="45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b="true" sz="2885" spc="-30" u="sng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now: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38637" y="7532567"/>
            <a:ext cx="8363007" cy="130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4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Indian Space Policy 2023 opened satellite and launch-vehicle building to private industry. More suppliers mean more component lots, which must be screened consistently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8355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flipV="true">
            <a:off x="12858876" y="2213415"/>
            <a:ext cx="0" cy="6430539"/>
          </a:xfrm>
          <a:prstGeom prst="line">
            <a:avLst/>
          </a:prstGeom>
          <a:ln cap="flat" w="38100">
            <a:solidFill>
              <a:srgbClr val="8064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981928" y="7750274"/>
            <a:ext cx="754044" cy="761660"/>
          </a:xfrm>
          <a:custGeom>
            <a:avLst/>
            <a:gdLst/>
            <a:ahLst/>
            <a:cxnLst/>
            <a:rect r="r" b="b" t="t" l="l"/>
            <a:pathLst>
              <a:path h="761660" w="754044">
                <a:moveTo>
                  <a:pt x="0" y="0"/>
                </a:moveTo>
                <a:lnTo>
                  <a:pt x="754044" y="0"/>
                </a:lnTo>
                <a:lnTo>
                  <a:pt x="754044" y="761660"/>
                </a:lnTo>
                <a:lnTo>
                  <a:pt x="0" y="761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09414" y="8643954"/>
            <a:ext cx="761660" cy="761660"/>
          </a:xfrm>
          <a:custGeom>
            <a:avLst/>
            <a:gdLst/>
            <a:ahLst/>
            <a:cxnLst/>
            <a:rect r="r" b="b" t="t" l="l"/>
            <a:pathLst>
              <a:path h="761660" w="761660">
                <a:moveTo>
                  <a:pt x="0" y="0"/>
                </a:moveTo>
                <a:lnTo>
                  <a:pt x="761660" y="0"/>
                </a:lnTo>
                <a:lnTo>
                  <a:pt x="761660" y="761661"/>
                </a:lnTo>
                <a:lnTo>
                  <a:pt x="0" y="761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4264" y="7564258"/>
            <a:ext cx="2160639" cy="823101"/>
          </a:xfrm>
          <a:custGeom>
            <a:avLst/>
            <a:gdLst/>
            <a:ahLst/>
            <a:cxnLst/>
            <a:rect r="r" b="b" t="t" l="l"/>
            <a:pathLst>
              <a:path h="823101" w="2160639">
                <a:moveTo>
                  <a:pt x="0" y="0"/>
                </a:moveTo>
                <a:lnTo>
                  <a:pt x="2160639" y="0"/>
                </a:lnTo>
                <a:lnTo>
                  <a:pt x="2160639" y="823100"/>
                </a:lnTo>
                <a:lnTo>
                  <a:pt x="0" y="823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45425" y="7691349"/>
            <a:ext cx="943173" cy="952605"/>
          </a:xfrm>
          <a:custGeom>
            <a:avLst/>
            <a:gdLst/>
            <a:ahLst/>
            <a:cxnLst/>
            <a:rect r="r" b="b" t="t" l="l"/>
            <a:pathLst>
              <a:path h="952605" w="943173">
                <a:moveTo>
                  <a:pt x="0" y="0"/>
                </a:moveTo>
                <a:lnTo>
                  <a:pt x="943173" y="0"/>
                </a:lnTo>
                <a:lnTo>
                  <a:pt x="943173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59346" y="8758331"/>
            <a:ext cx="2933442" cy="563627"/>
          </a:xfrm>
          <a:custGeom>
            <a:avLst/>
            <a:gdLst/>
            <a:ahLst/>
            <a:cxnLst/>
            <a:rect r="r" b="b" t="t" l="l"/>
            <a:pathLst>
              <a:path h="563627" w="2933442">
                <a:moveTo>
                  <a:pt x="0" y="0"/>
                </a:moveTo>
                <a:lnTo>
                  <a:pt x="2933442" y="0"/>
                </a:lnTo>
                <a:lnTo>
                  <a:pt x="2933442" y="563627"/>
                </a:lnTo>
                <a:lnTo>
                  <a:pt x="0" y="5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422" r="0" b="-142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168100" y="8580010"/>
            <a:ext cx="753043" cy="869313"/>
          </a:xfrm>
          <a:custGeom>
            <a:avLst/>
            <a:gdLst/>
            <a:ahLst/>
            <a:cxnLst/>
            <a:rect r="r" b="b" t="t" l="l"/>
            <a:pathLst>
              <a:path h="869313" w="753043">
                <a:moveTo>
                  <a:pt x="0" y="0"/>
                </a:moveTo>
                <a:lnTo>
                  <a:pt x="753043" y="0"/>
                </a:lnTo>
                <a:lnTo>
                  <a:pt x="753043" y="869313"/>
                </a:lnTo>
                <a:lnTo>
                  <a:pt x="0" y="8693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982701" y="7683878"/>
            <a:ext cx="894452" cy="894452"/>
          </a:xfrm>
          <a:custGeom>
            <a:avLst/>
            <a:gdLst/>
            <a:ahLst/>
            <a:cxnLst/>
            <a:rect r="r" b="b" t="t" l="l"/>
            <a:pathLst>
              <a:path h="894452" w="894452">
                <a:moveTo>
                  <a:pt x="0" y="0"/>
                </a:moveTo>
                <a:lnTo>
                  <a:pt x="894452" y="0"/>
                </a:lnTo>
                <a:lnTo>
                  <a:pt x="894452" y="894452"/>
                </a:lnTo>
                <a:lnTo>
                  <a:pt x="0" y="8944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75612" y="359321"/>
            <a:ext cx="2411166" cy="1249101"/>
            <a:chOff x="0" y="0"/>
            <a:chExt cx="3214888" cy="1665468"/>
          </a:xfrm>
        </p:grpSpPr>
        <p:sp>
          <p:nvSpPr>
            <p:cNvPr name="Freeform 18" id="18" descr="Your startup LOGO"/>
            <p:cNvSpPr/>
            <p:nvPr/>
          </p:nvSpPr>
          <p:spPr>
            <a:xfrm flipH="false" flipV="false" rot="0">
              <a:off x="0" y="0"/>
              <a:ext cx="3214840" cy="1665481"/>
            </a:xfrm>
            <a:custGeom>
              <a:avLst/>
              <a:gdLst/>
              <a:ahLst/>
              <a:cxnLst/>
              <a:rect r="r" b="b" t="t" l="l"/>
              <a:pathLst>
                <a:path h="1665481" w="3214840">
                  <a:moveTo>
                    <a:pt x="0" y="832740"/>
                  </a:moveTo>
                  <a:cubicBezTo>
                    <a:pt x="0" y="372873"/>
                    <a:pt x="719719" y="0"/>
                    <a:pt x="1607420" y="0"/>
                  </a:cubicBezTo>
                  <a:cubicBezTo>
                    <a:pt x="2495121" y="0"/>
                    <a:pt x="3214840" y="372873"/>
                    <a:pt x="3214840" y="832740"/>
                  </a:cubicBezTo>
                  <a:cubicBezTo>
                    <a:pt x="3214840" y="1292608"/>
                    <a:pt x="2495121" y="1665481"/>
                    <a:pt x="1607420" y="1665481"/>
                  </a:cubicBezTo>
                  <a:cubicBezTo>
                    <a:pt x="719719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214888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Agamemnon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73937" y="7578932"/>
            <a:ext cx="5789614" cy="1743026"/>
            <a:chOff x="0" y="0"/>
            <a:chExt cx="6969448" cy="20982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9407" cy="2098213"/>
            </a:xfrm>
            <a:custGeom>
              <a:avLst/>
              <a:gdLst/>
              <a:ahLst/>
              <a:cxnLst/>
              <a:rect r="r" b="b" t="t" l="l"/>
              <a:pathLst>
                <a:path h="2098213" w="6969407">
                  <a:moveTo>
                    <a:pt x="0" y="44908"/>
                  </a:moveTo>
                  <a:cubicBezTo>
                    <a:pt x="0" y="20106"/>
                    <a:pt x="11210" y="0"/>
                    <a:pt x="25037" y="0"/>
                  </a:cubicBezTo>
                  <a:lnTo>
                    <a:pt x="6944369" y="0"/>
                  </a:lnTo>
                  <a:cubicBezTo>
                    <a:pt x="6958197" y="0"/>
                    <a:pt x="6969407" y="20106"/>
                    <a:pt x="6969407" y="44908"/>
                  </a:cubicBezTo>
                  <a:lnTo>
                    <a:pt x="6969407" y="2053305"/>
                  </a:lnTo>
                  <a:cubicBezTo>
                    <a:pt x="6969407" y="2078107"/>
                    <a:pt x="6958197" y="2098213"/>
                    <a:pt x="6944369" y="2098213"/>
                  </a:cubicBezTo>
                  <a:lnTo>
                    <a:pt x="25037" y="2098213"/>
                  </a:lnTo>
                  <a:cubicBezTo>
                    <a:pt x="11210" y="2098213"/>
                    <a:pt x="0" y="2078107"/>
                    <a:pt x="0" y="2053305"/>
                  </a:cubicBezTo>
                  <a:close/>
                </a:path>
              </a:pathLst>
            </a:custGeom>
            <a:solidFill>
              <a:srgbClr val="4E4F5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27574" y="7578932"/>
            <a:ext cx="6140761" cy="1743026"/>
            <a:chOff x="0" y="0"/>
            <a:chExt cx="1140764" cy="3238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0764" cy="323801"/>
            </a:xfrm>
            <a:custGeom>
              <a:avLst/>
              <a:gdLst/>
              <a:ahLst/>
              <a:cxnLst/>
              <a:rect r="r" b="b" t="t" l="l"/>
              <a:pathLst>
                <a:path h="323801" w="1140764">
                  <a:moveTo>
                    <a:pt x="0" y="0"/>
                  </a:moveTo>
                  <a:lnTo>
                    <a:pt x="1140764" y="0"/>
                  </a:lnTo>
                  <a:lnTo>
                    <a:pt x="1140764" y="323801"/>
                  </a:lnTo>
                  <a:lnTo>
                    <a:pt x="0" y="323801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140764" cy="333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4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89222" y="1923953"/>
            <a:ext cx="11900776" cy="4730558"/>
          </a:xfrm>
          <a:custGeom>
            <a:avLst/>
            <a:gdLst/>
            <a:ahLst/>
            <a:cxnLst/>
            <a:rect r="r" b="b" t="t" l="l"/>
            <a:pathLst>
              <a:path h="4730558" w="11900776">
                <a:moveTo>
                  <a:pt x="0" y="0"/>
                </a:moveTo>
                <a:lnTo>
                  <a:pt x="11900776" y="0"/>
                </a:lnTo>
                <a:lnTo>
                  <a:pt x="11900776" y="4730559"/>
                </a:lnTo>
                <a:lnTo>
                  <a:pt x="0" y="4730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3290668" y="2659104"/>
            <a:ext cx="4592834" cy="1325212"/>
            <a:chOff x="0" y="0"/>
            <a:chExt cx="6123778" cy="1766949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165436" y="-47625"/>
              <a:ext cx="5958342" cy="44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6"/>
                </a:lnSpc>
              </a:pPr>
              <a:r>
                <a:rPr lang="en-US" b="true" sz="1976">
                  <a:solidFill>
                    <a:srgbClr val="4323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Anomaly Detection — Module A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510998"/>
              <a:ext cx="6123778" cy="1255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Python, scikit-learn, PyOD</a:t>
              </a:r>
            </a:p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Robust MAD statistics and dynamic lot limits</a:t>
              </a:r>
            </a:p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Isolation Forest + ECOD ensemble</a:t>
              </a:r>
            </a:p>
            <a:p>
              <a:pPr algn="l">
                <a:lnSpc>
                  <a:spcPts val="1908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290668" y="3899338"/>
            <a:ext cx="4592834" cy="1325212"/>
            <a:chOff x="0" y="0"/>
            <a:chExt cx="6123778" cy="1766949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165436" y="-47625"/>
              <a:ext cx="5958342" cy="44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6"/>
                </a:lnSpc>
              </a:pPr>
              <a:r>
                <a:rPr lang="en-US" b="true" sz="1976">
                  <a:solidFill>
                    <a:srgbClr val="4323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Drift Forecasting — Module B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510998"/>
              <a:ext cx="6123778" cy="1255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LightGBM with quantile and L1 objectives</a:t>
              </a:r>
            </a:p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Trained to optimise MAE directly, matching the evaluation metric</a:t>
              </a:r>
            </a:p>
            <a:p>
              <a:pPr algn="l">
                <a:lnSpc>
                  <a:spcPts val="1908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290668" y="5029332"/>
            <a:ext cx="4592834" cy="1325212"/>
            <a:chOff x="0" y="0"/>
            <a:chExt cx="6123778" cy="1766949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165436" y="-47625"/>
              <a:ext cx="5958342" cy="44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6"/>
                </a:lnSpc>
              </a:pPr>
              <a:r>
                <a:rPr lang="en-US" b="true" sz="1976">
                  <a:solidFill>
                    <a:srgbClr val="4323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Uncertainty Calibration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510998"/>
              <a:ext cx="6123778" cy="1255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Custom split-conformal module</a:t>
              </a:r>
            </a:p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Conformalized Quantile Regression (CQR)</a:t>
              </a:r>
            </a:p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Distribution-free intervals with a bounded error rate</a:t>
              </a:r>
            </a:p>
            <a:p>
              <a:pPr algn="l">
                <a:lnSpc>
                  <a:spcPts val="1908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290668" y="6239046"/>
            <a:ext cx="4592834" cy="1325212"/>
            <a:chOff x="0" y="0"/>
            <a:chExt cx="6123778" cy="1766949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165436" y="-47625"/>
              <a:ext cx="5958342" cy="44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6"/>
                </a:lnSpc>
              </a:pPr>
              <a:r>
                <a:rPr lang="en-US" b="true" sz="1976">
                  <a:solidFill>
                    <a:srgbClr val="4323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Explainability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510998"/>
              <a:ext cx="6123778" cy="1255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InterpretML — Explainable Boosting Machine</a:t>
              </a:r>
            </a:p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SHAP for feature attribution</a:t>
              </a:r>
            </a:p>
            <a:p>
              <a:pPr algn="l" marL="255825" indent="-127913" lvl="1">
                <a:lnSpc>
                  <a:spcPts val="1908"/>
                </a:lnSpc>
                <a:buFont typeface="Arial"/>
                <a:buChar char="•"/>
              </a:pPr>
              <a:r>
                <a:rPr lang="en-US" sz="1184">
                  <a:solidFill>
                    <a:srgbClr val="432322"/>
                  </a:solidFill>
                  <a:latin typeface="Lora"/>
                  <a:ea typeface="Lora"/>
                  <a:cs typeface="Lora"/>
                  <a:sym typeface="Lora"/>
                </a:rPr>
                <a:t>Interpretable-by-design, not post-hoc rationalisation</a:t>
              </a:r>
            </a:p>
            <a:p>
              <a:pPr algn="l">
                <a:lnSpc>
                  <a:spcPts val="1908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321992" y="1914428"/>
            <a:ext cx="321852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8"/>
              </a:lnSpc>
            </a:pPr>
            <a:r>
              <a:rPr lang="en-US" b="true" sz="2698" u="sng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Technologies Used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29002" y="7050779"/>
            <a:ext cx="5000860" cy="35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244" spc="-2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a QA engineer's day changes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9222" y="7705018"/>
            <a:ext cx="8555813" cy="31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b="true" sz="1912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Before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89222" y="8098702"/>
            <a:ext cx="8555813" cy="96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145" indent="-150573" lvl="1">
              <a:lnSpc>
                <a:spcPts val="2693"/>
              </a:lnSpc>
              <a:buFont typeface="Arial"/>
              <a:buChar char="•"/>
            </a:pPr>
            <a:r>
              <a:rPr lang="en-US" sz="1662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Waits for the full burn-in</a:t>
            </a:r>
          </a:p>
          <a:p>
            <a:pPr algn="l" marL="301145" indent="-150573" lvl="1">
              <a:lnSpc>
                <a:spcPts val="2693"/>
              </a:lnSpc>
              <a:buFont typeface="Arial"/>
              <a:buChar char="•"/>
            </a:pPr>
            <a:r>
              <a:rPr lang="en-US" sz="1662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Checks each reading against one fixed limit</a:t>
            </a:r>
          </a:p>
          <a:p>
            <a:pPr algn="l" marL="301145" indent="-150573" lvl="1">
              <a:lnSpc>
                <a:spcPts val="2693"/>
              </a:lnSpc>
              <a:buFont typeface="Arial"/>
              <a:buChar char="•"/>
            </a:pPr>
            <a:r>
              <a:rPr lang="en-US" sz="1662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Gets PASS or FAIL with no explanation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532803" y="7705018"/>
            <a:ext cx="6035532" cy="29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b="true" sz="1912" spc="-1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532803" y="8098702"/>
            <a:ext cx="6035532" cy="96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145" indent="-150573" lvl="1">
              <a:lnSpc>
                <a:spcPts val="2693"/>
              </a:lnSpc>
              <a:buFont typeface="Arial"/>
              <a:buChar char="•"/>
            </a:pPr>
            <a:r>
              <a:rPr lang="en-US" sz="166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At 24 h sees each part against its lot and its forecast 168 h range</a:t>
            </a:r>
          </a:p>
          <a:p>
            <a:pPr algn="l" marL="301145" indent="-150573" lvl="1">
              <a:lnSpc>
                <a:spcPts val="2693"/>
              </a:lnSpc>
              <a:buFont typeface="Arial"/>
              <a:buChar char="•"/>
            </a:pPr>
            <a:r>
              <a:rPr lang="en-US" sz="166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Gets PASS, FAIL, or ESCALATE</a:t>
            </a:r>
          </a:p>
          <a:p>
            <a:pPr algn="l" marL="301145" indent="-150573" lvl="1">
              <a:lnSpc>
                <a:spcPts val="2693"/>
              </a:lnSpc>
              <a:buFont typeface="Arial"/>
              <a:buChar char="•"/>
            </a:pPr>
            <a:r>
              <a:rPr lang="en-US" sz="166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rejection comes with a certificate stating the evidence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612" y="359321"/>
            <a:ext cx="2411166" cy="1249101"/>
            <a:chOff x="0" y="0"/>
            <a:chExt cx="3214888" cy="1665468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3214840" cy="1665481"/>
            </a:xfrm>
            <a:custGeom>
              <a:avLst/>
              <a:gdLst/>
              <a:ahLst/>
              <a:cxnLst/>
              <a:rect r="r" b="b" t="t" l="l"/>
              <a:pathLst>
                <a:path h="1665481" w="3214840">
                  <a:moveTo>
                    <a:pt x="0" y="832740"/>
                  </a:moveTo>
                  <a:cubicBezTo>
                    <a:pt x="0" y="372873"/>
                    <a:pt x="719719" y="0"/>
                    <a:pt x="1607420" y="0"/>
                  </a:cubicBezTo>
                  <a:cubicBezTo>
                    <a:pt x="2495121" y="0"/>
                    <a:pt x="3214840" y="372873"/>
                    <a:pt x="3214840" y="832740"/>
                  </a:cubicBezTo>
                  <a:cubicBezTo>
                    <a:pt x="3214840" y="1292608"/>
                    <a:pt x="2495121" y="1665481"/>
                    <a:pt x="1607420" y="1665481"/>
                  </a:cubicBezTo>
                  <a:cubicBezTo>
                    <a:pt x="719719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214888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Agamemnon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28439" y="8619385"/>
            <a:ext cx="16216464" cy="3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2186" spc="-2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Risks &amp; Mitigations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666962" y="6947360"/>
            <a:ext cx="8009018" cy="1223783"/>
          </a:xfrm>
          <a:custGeom>
            <a:avLst/>
            <a:gdLst/>
            <a:ahLst/>
            <a:cxnLst/>
            <a:rect r="r" b="b" t="t" l="l"/>
            <a:pathLst>
              <a:path h="1223783" w="8009018">
                <a:moveTo>
                  <a:pt x="0" y="0"/>
                </a:moveTo>
                <a:lnTo>
                  <a:pt x="8009018" y="0"/>
                </a:lnTo>
                <a:lnTo>
                  <a:pt x="8009018" y="1223784"/>
                </a:lnTo>
                <a:lnTo>
                  <a:pt x="0" y="1223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1" r="0" b="-41"/>
            </a:stretch>
          </a:blipFill>
        </p:spPr>
      </p:sp>
      <p:sp>
        <p:nvSpPr>
          <p:cNvPr name="Freeform 17" id="17" descr="preencoded.png"/>
          <p:cNvSpPr/>
          <p:nvPr/>
        </p:nvSpPr>
        <p:spPr>
          <a:xfrm flipH="false" flipV="false" rot="0">
            <a:off x="9398738" y="6947360"/>
            <a:ext cx="8009018" cy="1223783"/>
          </a:xfrm>
          <a:custGeom>
            <a:avLst/>
            <a:gdLst/>
            <a:ahLst/>
            <a:cxnLst/>
            <a:rect r="r" b="b" t="t" l="l"/>
            <a:pathLst>
              <a:path h="1223783" w="8009018">
                <a:moveTo>
                  <a:pt x="0" y="0"/>
                </a:moveTo>
                <a:lnTo>
                  <a:pt x="8009018" y="0"/>
                </a:lnTo>
                <a:lnTo>
                  <a:pt x="8009018" y="1223784"/>
                </a:lnTo>
                <a:lnTo>
                  <a:pt x="0" y="1223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1" r="0" b="-41"/>
            </a:stretch>
          </a:blipFill>
        </p:spPr>
      </p:sp>
      <p:sp>
        <p:nvSpPr>
          <p:cNvPr name="Freeform 18" id="18" descr="preencoded.png"/>
          <p:cNvSpPr/>
          <p:nvPr/>
        </p:nvSpPr>
        <p:spPr>
          <a:xfrm flipH="false" flipV="false" rot="0">
            <a:off x="666962" y="8369571"/>
            <a:ext cx="8009018" cy="888729"/>
          </a:xfrm>
          <a:custGeom>
            <a:avLst/>
            <a:gdLst/>
            <a:ahLst/>
            <a:cxnLst/>
            <a:rect r="r" b="b" t="t" l="l"/>
            <a:pathLst>
              <a:path h="888729" w="8009018">
                <a:moveTo>
                  <a:pt x="0" y="0"/>
                </a:moveTo>
                <a:lnTo>
                  <a:pt x="8009018" y="0"/>
                </a:lnTo>
                <a:lnTo>
                  <a:pt x="8009018" y="888729"/>
                </a:lnTo>
                <a:lnTo>
                  <a:pt x="0" y="8887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Freeform 19" id="19" descr="preencoded.png"/>
          <p:cNvSpPr/>
          <p:nvPr/>
        </p:nvSpPr>
        <p:spPr>
          <a:xfrm flipH="false" flipV="false" rot="0">
            <a:off x="9398738" y="8369571"/>
            <a:ext cx="8009018" cy="888729"/>
          </a:xfrm>
          <a:custGeom>
            <a:avLst/>
            <a:gdLst/>
            <a:ahLst/>
            <a:cxnLst/>
            <a:rect r="r" b="b" t="t" l="l"/>
            <a:pathLst>
              <a:path h="888729" w="8009018">
                <a:moveTo>
                  <a:pt x="0" y="0"/>
                </a:moveTo>
                <a:lnTo>
                  <a:pt x="8009018" y="0"/>
                </a:lnTo>
                <a:lnTo>
                  <a:pt x="8009018" y="888729"/>
                </a:lnTo>
                <a:lnTo>
                  <a:pt x="0" y="8887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5" r="0" b="-64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75612" y="2012192"/>
            <a:ext cx="8668388" cy="4231587"/>
            <a:chOff x="0" y="0"/>
            <a:chExt cx="841021" cy="4105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1021" cy="410555"/>
            </a:xfrm>
            <a:custGeom>
              <a:avLst/>
              <a:gdLst/>
              <a:ahLst/>
              <a:cxnLst/>
              <a:rect r="r" b="b" t="t" l="l"/>
              <a:pathLst>
                <a:path h="410555" w="841021">
                  <a:moveTo>
                    <a:pt x="34888" y="0"/>
                  </a:moveTo>
                  <a:lnTo>
                    <a:pt x="806133" y="0"/>
                  </a:lnTo>
                  <a:cubicBezTo>
                    <a:pt x="825401" y="0"/>
                    <a:pt x="841021" y="15620"/>
                    <a:pt x="841021" y="34888"/>
                  </a:cubicBezTo>
                  <a:lnTo>
                    <a:pt x="841021" y="375668"/>
                  </a:lnTo>
                  <a:cubicBezTo>
                    <a:pt x="841021" y="384920"/>
                    <a:pt x="837345" y="393794"/>
                    <a:pt x="830802" y="400337"/>
                  </a:cubicBezTo>
                  <a:cubicBezTo>
                    <a:pt x="824260" y="406880"/>
                    <a:pt x="815386" y="410555"/>
                    <a:pt x="806133" y="410555"/>
                  </a:cubicBezTo>
                  <a:lnTo>
                    <a:pt x="34888" y="410555"/>
                  </a:lnTo>
                  <a:cubicBezTo>
                    <a:pt x="25635" y="410555"/>
                    <a:pt x="16761" y="406880"/>
                    <a:pt x="10218" y="400337"/>
                  </a:cubicBezTo>
                  <a:cubicBezTo>
                    <a:pt x="3676" y="393794"/>
                    <a:pt x="0" y="384920"/>
                    <a:pt x="0" y="375668"/>
                  </a:cubicBezTo>
                  <a:lnTo>
                    <a:pt x="0" y="34888"/>
                  </a:lnTo>
                  <a:cubicBezTo>
                    <a:pt x="0" y="25635"/>
                    <a:pt x="3676" y="16761"/>
                    <a:pt x="10218" y="10218"/>
                  </a:cubicBezTo>
                  <a:cubicBezTo>
                    <a:pt x="16761" y="3676"/>
                    <a:pt x="25635" y="0"/>
                    <a:pt x="34888" y="0"/>
                  </a:cubicBezTo>
                  <a:close/>
                </a:path>
              </a:pathLst>
            </a:custGeom>
            <a:solidFill>
              <a:srgbClr val="4E4F5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41021" cy="439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1550" y="2303870"/>
            <a:ext cx="2056448" cy="4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b="true" sz="2942" spc="-30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Feasibility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1329" y="2990784"/>
            <a:ext cx="8238572" cy="338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195" indent="-262597" lvl="1">
              <a:lnSpc>
                <a:spcPts val="3897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new hardware: Uses existing CSV/STDF test data</a:t>
            </a:r>
          </a:p>
          <a:p>
            <a:pPr algn="l" marL="525195" indent="-262597" lvl="1">
              <a:lnSpc>
                <a:spcPts val="3897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Laptop-ready: CPU-only, open-source Python</a:t>
            </a:r>
          </a:p>
          <a:p>
            <a:pPr algn="l" marL="525195" indent="-262597" lvl="1">
              <a:lnSpc>
                <a:spcPts val="3897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Air-gapped: Data stays inside the facility</a:t>
            </a:r>
          </a:p>
          <a:p>
            <a:pPr algn="l" marL="525195" indent="-262597" lvl="1">
              <a:lnSpc>
                <a:spcPts val="3897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Modular: Module A works independently of Module B</a:t>
            </a:r>
          </a:p>
          <a:p>
            <a:pPr algn="l">
              <a:lnSpc>
                <a:spcPts val="389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685276" y="2202221"/>
            <a:ext cx="1568053" cy="4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b="true" sz="2942" spc="-30" u="sng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Viability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8717" y="7195618"/>
            <a:ext cx="7340431" cy="69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1885" b="true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 public burn-in data</a:t>
            </a:r>
            <a:r>
              <a:rPr lang="en-US" sz="188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→ real analogue datasets; every result labelled real or synthetic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90493" y="7195618"/>
            <a:ext cx="7340431" cy="36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1885" b="true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Small lots</a:t>
            </a:r>
            <a:r>
              <a:rPr lang="en-US" sz="188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→ minimum lot-size rule + historical baseline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8717" y="8617838"/>
            <a:ext cx="7340431" cy="36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1885" b="true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Whole lot shifted</a:t>
            </a:r>
            <a:r>
              <a:rPr lang="en-US" sz="188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→ cross-lot baseline alongside dynamic limits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90493" y="8617838"/>
            <a:ext cx="7340431" cy="36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1885" b="true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Unseen defect type</a:t>
            </a:r>
            <a:r>
              <a:rPr lang="en-US" sz="188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→ ESCALATE to extended burn-in, never auto-PASS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57060" y="2904435"/>
            <a:ext cx="8587843" cy="332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640" indent="-304320" lvl="1">
              <a:lnSpc>
                <a:spcPts val="3788"/>
              </a:lnSpc>
              <a:buFont typeface="Arial"/>
              <a:buChar char="•"/>
            </a:pPr>
            <a:r>
              <a:rPr lang="en-US" sz="2819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Proven methods: Peer-reviewed + industry practices</a:t>
            </a:r>
          </a:p>
          <a:p>
            <a:pPr algn="l" marL="608640" indent="-304320" lvl="1">
              <a:lnSpc>
                <a:spcPts val="3788"/>
              </a:lnSpc>
              <a:buFont typeface="Arial"/>
              <a:buChar char="•"/>
            </a:pPr>
            <a:r>
              <a:rPr lang="en-US" sz="2819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roadmap: Simulation → NASA + UCI → Partner ATE data</a:t>
            </a:r>
          </a:p>
          <a:p>
            <a:pPr algn="l" marL="608640" indent="-304320" lvl="1">
              <a:lnSpc>
                <a:spcPts val="3788"/>
              </a:lnSpc>
              <a:buFont typeface="Arial"/>
              <a:buChar char="•"/>
            </a:pPr>
            <a:r>
              <a:rPr lang="en-US" sz="2819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defect labels: Conformal calibration</a:t>
            </a:r>
          </a:p>
          <a:p>
            <a:pPr algn="l" marL="608640" indent="-304320" lvl="1">
              <a:lnSpc>
                <a:spcPts val="3788"/>
              </a:lnSpc>
              <a:buFont typeface="Arial"/>
              <a:buChar char="•"/>
            </a:pPr>
            <a:r>
              <a:rPr lang="en-US" sz="2819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Audit-ready: Versioned models, logs &amp; rejection certificates</a:t>
            </a:r>
          </a:p>
          <a:p>
            <a:pPr algn="l">
              <a:lnSpc>
                <a:spcPts val="3788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788954" y="6438737"/>
            <a:ext cx="16140713" cy="36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Risks &amp; Mitigations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90213" y="2705385"/>
            <a:ext cx="4377317" cy="648239"/>
          </a:xfrm>
          <a:custGeom>
            <a:avLst/>
            <a:gdLst/>
            <a:ahLst/>
            <a:cxnLst/>
            <a:rect r="r" b="b" t="t" l="l"/>
            <a:pathLst>
              <a:path h="648239" w="4377317">
                <a:moveTo>
                  <a:pt x="0" y="0"/>
                </a:moveTo>
                <a:lnTo>
                  <a:pt x="4377317" y="0"/>
                </a:lnTo>
                <a:lnTo>
                  <a:pt x="4377317" y="648239"/>
                </a:lnTo>
                <a:lnTo>
                  <a:pt x="0" y="6482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85743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5612" y="2209936"/>
            <a:ext cx="4885622" cy="687928"/>
            <a:chOff x="0" y="0"/>
            <a:chExt cx="4960703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60703" cy="698500"/>
            </a:xfrm>
            <a:custGeom>
              <a:avLst/>
              <a:gdLst/>
              <a:ahLst/>
              <a:cxnLst/>
              <a:rect r="r" b="b" t="t" l="l"/>
              <a:pathLst>
                <a:path h="698500" w="4960703">
                  <a:moveTo>
                    <a:pt x="4960703" y="349250"/>
                  </a:moveTo>
                  <a:lnTo>
                    <a:pt x="475750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757503" y="0"/>
                  </a:lnTo>
                  <a:lnTo>
                    <a:pt x="4960703" y="349250"/>
                  </a:lnTo>
                  <a:close/>
                </a:path>
              </a:pathLst>
            </a:custGeom>
            <a:solidFill>
              <a:srgbClr val="4A4F6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47625"/>
              <a:ext cx="4732103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02596" y="2058955"/>
            <a:ext cx="1151855" cy="1151855"/>
          </a:xfrm>
          <a:custGeom>
            <a:avLst/>
            <a:gdLst/>
            <a:ahLst/>
            <a:cxnLst/>
            <a:rect r="r" b="b" t="t" l="l"/>
            <a:pathLst>
              <a:path h="1151855" w="1151855">
                <a:moveTo>
                  <a:pt x="0" y="0"/>
                </a:moveTo>
                <a:lnTo>
                  <a:pt x="1151854" y="0"/>
                </a:lnTo>
                <a:lnTo>
                  <a:pt x="1151854" y="1151854"/>
                </a:lnTo>
                <a:lnTo>
                  <a:pt x="0" y="1151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1102596" y="2058955"/>
            <a:ext cx="989891" cy="9898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4A4F6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4351" y="3390699"/>
            <a:ext cx="566380" cy="5663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4F6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4351" y="4125641"/>
            <a:ext cx="566380" cy="56638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4F6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4351" y="4860584"/>
            <a:ext cx="566380" cy="56638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4F6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14351" y="5595527"/>
            <a:ext cx="566380" cy="56638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4F6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04</a:t>
              </a:r>
            </a:p>
          </p:txBody>
        </p:sp>
      </p:grpSp>
      <p:sp>
        <p:nvSpPr>
          <p:cNvPr name="Freeform 32" id="32"/>
          <p:cNvSpPr/>
          <p:nvPr/>
        </p:nvSpPr>
        <p:spPr>
          <a:xfrm>
            <a:off x="654173" y="3673889"/>
            <a:ext cx="660178" cy="2221528"/>
          </a:xfrm>
          <a:custGeom>
            <a:avLst/>
            <a:gdLst/>
            <a:ahLst/>
            <a:cxnLst/>
            <a:rect r="r" b="b" t="t" l="l"/>
            <a:pathLst>
              <a:path h="2221528" w="660178">
                <a:moveTo>
                  <a:pt x="660178" y="0"/>
                </a:moveTo>
                <a:lnTo>
                  <a:pt x="161925" y="0"/>
                </a:lnTo>
                <a:cubicBezTo>
                  <a:pt x="118980" y="0"/>
                  <a:pt x="77794" y="17060"/>
                  <a:pt x="47427" y="47426"/>
                </a:cubicBezTo>
                <a:cubicBezTo>
                  <a:pt x="17060" y="77794"/>
                  <a:pt x="0" y="118980"/>
                  <a:pt x="0" y="161925"/>
                </a:cubicBezTo>
                <a:lnTo>
                  <a:pt x="0" y="2221528"/>
                </a:lnTo>
              </a:path>
            </a:pathLst>
          </a:custGeom>
          <a:ln cap="flat" w="2857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690213" y="4408831"/>
            <a:ext cx="624138" cy="0"/>
          </a:xfrm>
          <a:prstGeom prst="line">
            <a:avLst/>
          </a:prstGeom>
          <a:ln cap="flat" w="2857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690213" y="5143774"/>
            <a:ext cx="624138" cy="0"/>
          </a:xfrm>
          <a:prstGeom prst="line">
            <a:avLst/>
          </a:prstGeom>
          <a:ln cap="flat" w="2857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690213" y="5878717"/>
            <a:ext cx="624138" cy="0"/>
          </a:xfrm>
          <a:prstGeom prst="line">
            <a:avLst/>
          </a:prstGeom>
          <a:ln cap="flat" w="2857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327281" y="2283640"/>
            <a:ext cx="540521" cy="540521"/>
          </a:xfrm>
          <a:custGeom>
            <a:avLst/>
            <a:gdLst/>
            <a:ahLst/>
            <a:cxnLst/>
            <a:rect r="r" b="b" t="t" l="l"/>
            <a:pathLst>
              <a:path h="540521" w="540521">
                <a:moveTo>
                  <a:pt x="0" y="0"/>
                </a:moveTo>
                <a:lnTo>
                  <a:pt x="540520" y="0"/>
                </a:lnTo>
                <a:lnTo>
                  <a:pt x="540520" y="540520"/>
                </a:lnTo>
                <a:lnTo>
                  <a:pt x="0" y="5405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973170" y="2767070"/>
            <a:ext cx="4410198" cy="623629"/>
          </a:xfrm>
          <a:custGeom>
            <a:avLst/>
            <a:gdLst/>
            <a:ahLst/>
            <a:cxnLst/>
            <a:rect r="r" b="b" t="t" l="l"/>
            <a:pathLst>
              <a:path h="623629" w="4410198">
                <a:moveTo>
                  <a:pt x="0" y="0"/>
                </a:moveTo>
                <a:lnTo>
                  <a:pt x="4410199" y="0"/>
                </a:lnTo>
                <a:lnTo>
                  <a:pt x="4410199" y="623629"/>
                </a:lnTo>
                <a:lnTo>
                  <a:pt x="0" y="6236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7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03978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8" id="38"/>
          <p:cNvGrpSpPr/>
          <p:nvPr/>
        </p:nvGrpSpPr>
        <p:grpSpPr>
          <a:xfrm rot="0">
            <a:off x="6798797" y="2262053"/>
            <a:ext cx="4793775" cy="674995"/>
            <a:chOff x="0" y="0"/>
            <a:chExt cx="4960703" cy="698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60703" cy="698500"/>
            </a:xfrm>
            <a:custGeom>
              <a:avLst/>
              <a:gdLst/>
              <a:ahLst/>
              <a:cxnLst/>
              <a:rect r="r" b="b" t="t" l="l"/>
              <a:pathLst>
                <a:path h="698500" w="4960703">
                  <a:moveTo>
                    <a:pt x="4960703" y="349250"/>
                  </a:moveTo>
                  <a:lnTo>
                    <a:pt x="475750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757503" y="0"/>
                  </a:lnTo>
                  <a:lnTo>
                    <a:pt x="4960703" y="349250"/>
                  </a:lnTo>
                  <a:close/>
                </a:path>
              </a:pathLst>
            </a:custGeom>
            <a:solidFill>
              <a:srgbClr val="F8993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14300" y="-38100"/>
              <a:ext cx="4732103" cy="736600"/>
            </a:xfrm>
            <a:prstGeom prst="rect">
              <a:avLst/>
            </a:prstGeom>
          </p:spPr>
          <p:txBody>
            <a:bodyPr anchor="ctr" rtlCol="false" tIns="50144" lIns="50144" bIns="50144" rIns="5014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0024984" y="2113910"/>
            <a:ext cx="1130201" cy="1130201"/>
          </a:xfrm>
          <a:custGeom>
            <a:avLst/>
            <a:gdLst/>
            <a:ahLst/>
            <a:cxnLst/>
            <a:rect r="r" b="b" t="t" l="l"/>
            <a:pathLst>
              <a:path h="1130201" w="1130201">
                <a:moveTo>
                  <a:pt x="0" y="0"/>
                </a:moveTo>
                <a:lnTo>
                  <a:pt x="1130200" y="0"/>
                </a:lnTo>
                <a:lnTo>
                  <a:pt x="1130200" y="1130201"/>
                </a:lnTo>
                <a:lnTo>
                  <a:pt x="0" y="11302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7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2" id="42"/>
          <p:cNvGrpSpPr/>
          <p:nvPr/>
        </p:nvGrpSpPr>
        <p:grpSpPr>
          <a:xfrm rot="0">
            <a:off x="10024984" y="2113910"/>
            <a:ext cx="971281" cy="971281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F89939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144" lIns="50144" bIns="50144" rIns="50144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05285" y="3390699"/>
            <a:ext cx="555732" cy="555732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939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144" lIns="50144" bIns="50144" rIns="50144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405285" y="4111825"/>
            <a:ext cx="555732" cy="555732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939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144" lIns="50144" bIns="50144" rIns="50144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405285" y="4832951"/>
            <a:ext cx="555732" cy="555732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939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144" lIns="50144" bIns="50144" rIns="50144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405285" y="5554077"/>
            <a:ext cx="555732" cy="555732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939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144" lIns="50144" bIns="50144" rIns="50144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04</a:t>
              </a:r>
            </a:p>
          </p:txBody>
        </p:sp>
      </p:grpSp>
      <p:sp>
        <p:nvSpPr>
          <p:cNvPr name="Freeform 57" id="57"/>
          <p:cNvSpPr/>
          <p:nvPr/>
        </p:nvSpPr>
        <p:spPr>
          <a:xfrm>
            <a:off x="10967690" y="3667647"/>
            <a:ext cx="626151" cy="2196783"/>
          </a:xfrm>
          <a:custGeom>
            <a:avLst/>
            <a:gdLst/>
            <a:ahLst/>
            <a:cxnLst/>
            <a:rect r="r" b="b" t="t" l="l"/>
            <a:pathLst>
              <a:path h="2196783" w="626151">
                <a:moveTo>
                  <a:pt x="0" y="0"/>
                </a:moveTo>
                <a:lnTo>
                  <a:pt x="464226" y="0"/>
                </a:lnTo>
                <a:cubicBezTo>
                  <a:pt x="507172" y="0"/>
                  <a:pt x="548357" y="17059"/>
                  <a:pt x="578725" y="47426"/>
                </a:cubicBezTo>
                <a:cubicBezTo>
                  <a:pt x="609091" y="77793"/>
                  <a:pt x="626151" y="118980"/>
                  <a:pt x="626151" y="161925"/>
                </a:cubicBezTo>
                <a:lnTo>
                  <a:pt x="626151" y="2194637"/>
                </a:lnTo>
                <a:cubicBezTo>
                  <a:pt x="626151" y="2195206"/>
                  <a:pt x="625925" y="2195752"/>
                  <a:pt x="625523" y="2196154"/>
                </a:cubicBezTo>
                <a:cubicBezTo>
                  <a:pt x="625120" y="2196556"/>
                  <a:pt x="624575" y="2196782"/>
                  <a:pt x="624006" y="2196782"/>
                </a:cubicBezTo>
                <a:lnTo>
                  <a:pt x="621861" y="2196782"/>
                </a:lnTo>
              </a:path>
            </a:pathLst>
          </a:custGeom>
          <a:ln cap="flat" w="2857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10967690" y="4399907"/>
            <a:ext cx="621861" cy="0"/>
          </a:xfrm>
          <a:prstGeom prst="line">
            <a:avLst/>
          </a:prstGeom>
          <a:ln cap="flat" w="2857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0967690" y="5132168"/>
            <a:ext cx="621861" cy="0"/>
          </a:xfrm>
          <a:prstGeom prst="line">
            <a:avLst/>
          </a:prstGeom>
          <a:ln cap="flat" w="2857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10967690" y="5864429"/>
            <a:ext cx="621861" cy="0"/>
          </a:xfrm>
          <a:prstGeom prst="line">
            <a:avLst/>
          </a:prstGeom>
          <a:ln cap="flat" w="28575">
            <a:solidFill>
              <a:srgbClr val="000000">
                <a:alpha val="2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61" id="61"/>
          <p:cNvSpPr/>
          <p:nvPr/>
        </p:nvSpPr>
        <p:spPr>
          <a:xfrm flipH="false" flipV="false" rot="0">
            <a:off x="10215232" y="2311159"/>
            <a:ext cx="555732" cy="555732"/>
          </a:xfrm>
          <a:custGeom>
            <a:avLst/>
            <a:gdLst/>
            <a:ahLst/>
            <a:cxnLst/>
            <a:rect r="r" b="b" t="t" l="l"/>
            <a:pathLst>
              <a:path h="555732" w="555732">
                <a:moveTo>
                  <a:pt x="0" y="0"/>
                </a:moveTo>
                <a:lnTo>
                  <a:pt x="555732" y="0"/>
                </a:lnTo>
                <a:lnTo>
                  <a:pt x="555732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2234159" y="3208730"/>
            <a:ext cx="304767" cy="304767"/>
          </a:xfrm>
          <a:custGeom>
            <a:avLst/>
            <a:gdLst/>
            <a:ahLst/>
            <a:cxnLst/>
            <a:rect r="r" b="b" t="t" l="l"/>
            <a:pathLst>
              <a:path h="304767" w="304767">
                <a:moveTo>
                  <a:pt x="0" y="0"/>
                </a:moveTo>
                <a:lnTo>
                  <a:pt x="304767" y="0"/>
                </a:lnTo>
                <a:lnTo>
                  <a:pt x="304767" y="304767"/>
                </a:lnTo>
                <a:lnTo>
                  <a:pt x="0" y="3047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234159" y="4461743"/>
            <a:ext cx="304767" cy="304767"/>
          </a:xfrm>
          <a:custGeom>
            <a:avLst/>
            <a:gdLst/>
            <a:ahLst/>
            <a:cxnLst/>
            <a:rect r="r" b="b" t="t" l="l"/>
            <a:pathLst>
              <a:path h="304767" w="304767">
                <a:moveTo>
                  <a:pt x="0" y="0"/>
                </a:moveTo>
                <a:lnTo>
                  <a:pt x="304767" y="0"/>
                </a:lnTo>
                <a:lnTo>
                  <a:pt x="304767" y="304767"/>
                </a:lnTo>
                <a:lnTo>
                  <a:pt x="0" y="3047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2234159" y="5738093"/>
            <a:ext cx="304767" cy="304767"/>
          </a:xfrm>
          <a:custGeom>
            <a:avLst/>
            <a:gdLst/>
            <a:ahLst/>
            <a:cxnLst/>
            <a:rect r="r" b="b" t="t" l="l"/>
            <a:pathLst>
              <a:path h="304767" w="304767">
                <a:moveTo>
                  <a:pt x="0" y="0"/>
                </a:moveTo>
                <a:lnTo>
                  <a:pt x="304767" y="0"/>
                </a:lnTo>
                <a:lnTo>
                  <a:pt x="304767" y="304767"/>
                </a:lnTo>
                <a:lnTo>
                  <a:pt x="0" y="3047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2234159" y="7033493"/>
            <a:ext cx="304767" cy="304767"/>
          </a:xfrm>
          <a:custGeom>
            <a:avLst/>
            <a:gdLst/>
            <a:ahLst/>
            <a:cxnLst/>
            <a:rect r="r" b="b" t="t" l="l"/>
            <a:pathLst>
              <a:path h="304767" w="304767">
                <a:moveTo>
                  <a:pt x="0" y="0"/>
                </a:moveTo>
                <a:lnTo>
                  <a:pt x="304767" y="0"/>
                </a:lnTo>
                <a:lnTo>
                  <a:pt x="304767" y="304767"/>
                </a:lnTo>
                <a:lnTo>
                  <a:pt x="0" y="3047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6" id="66"/>
          <p:cNvSpPr/>
          <p:nvPr/>
        </p:nvSpPr>
        <p:spPr>
          <a:xfrm flipV="true">
            <a:off x="12041508" y="1242279"/>
            <a:ext cx="0" cy="8016021"/>
          </a:xfrm>
          <a:prstGeom prst="line">
            <a:avLst/>
          </a:prstGeom>
          <a:ln cap="flat" w="38100">
            <a:solidFill>
              <a:srgbClr val="8064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7" id="67"/>
          <p:cNvSpPr txBox="true"/>
          <p:nvPr/>
        </p:nvSpPr>
        <p:spPr>
          <a:xfrm rot="0">
            <a:off x="7684711" y="2449560"/>
            <a:ext cx="1827192" cy="271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b="true" sz="16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BENEFITS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587083" y="3521572"/>
            <a:ext cx="3822643" cy="56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  <a:spcBef>
                <a:spcPct val="0"/>
              </a:spcBef>
            </a:pPr>
            <a:r>
              <a:rPr lang="en-US" sz="16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Reliability — fewer escapes without more blanket over-rejection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563087" y="4242698"/>
            <a:ext cx="3846640" cy="56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  <a:spcBef>
                <a:spcPct val="0"/>
              </a:spcBef>
            </a:pPr>
            <a:r>
              <a:rPr lang="en-US" sz="16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Economic — lower cost per screened part, shorter qualification cycle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587083" y="4963824"/>
            <a:ext cx="3822643" cy="56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  <a:spcBef>
                <a:spcPct val="0"/>
              </a:spcBef>
            </a:pPr>
            <a:r>
              <a:rPr lang="en-US" sz="16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Trust — glass-box verdicts a QA inspector can defend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587083" y="5684950"/>
            <a:ext cx="3822643" cy="85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62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Strategic — indigenous, air-gapped-capable screening infrastructure</a:t>
            </a:r>
          </a:p>
          <a:p>
            <a:pPr algn="l">
              <a:lnSpc>
                <a:spcPts val="2278"/>
              </a:lnSpc>
              <a:spcBef>
                <a:spcPct val="0"/>
              </a:spcBef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2605540" y="2392058"/>
            <a:ext cx="1946601" cy="285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1"/>
              </a:lnSpc>
              <a:spcBef>
                <a:spcPct val="0"/>
              </a:spcBef>
            </a:pPr>
            <a:r>
              <a:rPr lang="en-US" b="true" sz="16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045397" y="3512047"/>
            <a:ext cx="4019743" cy="57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1"/>
              </a:lnSpc>
              <a:spcBef>
                <a:spcPct val="0"/>
              </a:spcBef>
            </a:pPr>
            <a:r>
              <a:rPr lang="en-US" sz="16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Mission Assurance — catches drift-based defects before flight integration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045397" y="4246989"/>
            <a:ext cx="3681463" cy="57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1"/>
              </a:lnSpc>
              <a:spcBef>
                <a:spcPct val="0"/>
              </a:spcBef>
            </a:pPr>
            <a:r>
              <a:rPr lang="en-US" sz="16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Throughput — frees oven slots by rejecting at 24h instead of 168h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045397" y="4981932"/>
            <a:ext cx="4348548" cy="57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1"/>
              </a:lnSpc>
              <a:spcBef>
                <a:spcPct val="0"/>
              </a:spcBef>
            </a:pPr>
            <a:r>
              <a:rPr lang="en-US" sz="16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Root-Cause Feedback — names the suspected mechanism for supplier action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045397" y="5716875"/>
            <a:ext cx="3720303" cy="57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1"/>
              </a:lnSpc>
              <a:spcBef>
                <a:spcPct val="0"/>
              </a:spcBef>
            </a:pPr>
            <a:r>
              <a:rPr lang="en-US" sz="16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Auditability — every rejection carries inspectable evidence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840655" y="3170630"/>
            <a:ext cx="525493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72" b="true">
                <a:solidFill>
                  <a:srgbClr val="231F2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ISRO &amp; space integrators</a:t>
            </a:r>
            <a:r>
              <a:rPr lang="en-US" sz="2200" spc="-72">
                <a:solidFill>
                  <a:srgbClr val="231F20"/>
                </a:solidFill>
                <a:latin typeface="Public Sans"/>
                <a:ea typeface="Public Sans"/>
                <a:cs typeface="Public Sans"/>
                <a:sym typeface="Public Sans"/>
              </a:rPr>
              <a:t>— Fewer latent-defect escapes into flight payloads, plus a full audit trail per rejected part.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840655" y="4423643"/>
            <a:ext cx="525493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72" b="true">
                <a:solidFill>
                  <a:srgbClr val="231F2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Defence electronics</a:t>
            </a:r>
            <a:r>
              <a:rPr lang="en-US" sz="2200" spc="-72">
                <a:solidFill>
                  <a:srgbClr val="231F20"/>
                </a:solidFill>
                <a:latin typeface="Public Sans"/>
                <a:ea typeface="Public Sans"/>
                <a:cs typeface="Public Sans"/>
                <a:sym typeface="Public Sans"/>
              </a:rPr>
              <a:t>— Same screening flow for mission-critical hardware where field repair is impossible.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840655" y="5699993"/>
            <a:ext cx="525493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72" b="true">
                <a:solidFill>
                  <a:srgbClr val="231F2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Automotive semiconductor QA</a:t>
            </a:r>
            <a:r>
              <a:rPr lang="en-US" sz="2200" spc="-72">
                <a:solidFill>
                  <a:srgbClr val="231F20"/>
                </a:solidFill>
                <a:latin typeface="Public Sans"/>
                <a:ea typeface="Public Sans"/>
                <a:cs typeface="Public Sans"/>
                <a:sym typeface="Public Sans"/>
              </a:rPr>
              <a:t>— Directly reuses AEC-Q100 Part Average Testing practice; drops into existing test lines.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840655" y="6995393"/>
            <a:ext cx="525493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72" b="true">
                <a:solidFill>
                  <a:srgbClr val="231F2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Medical device manufacturers</a:t>
            </a:r>
            <a:r>
              <a:rPr lang="en-US" sz="2200" spc="-72">
                <a:solidFill>
                  <a:srgbClr val="231F20"/>
                </a:solidFill>
                <a:latin typeface="Public Sans"/>
                <a:ea typeface="Public Sans"/>
                <a:cs typeface="Public Sans"/>
                <a:sym typeface="Public Sans"/>
              </a:rPr>
              <a:t>— Traceable, inspectable rejection evidence for regulatory submission.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249596" y="2301634"/>
            <a:ext cx="321852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8"/>
              </a:lnSpc>
            </a:pPr>
            <a:r>
              <a:rPr lang="en-US" b="true" sz="2698" u="sng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WHO BENEFITS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880731" y="7185500"/>
            <a:ext cx="8394789" cy="124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5"/>
              </a:lnSpc>
            </a:pPr>
            <a:r>
              <a:rPr lang="en-US" sz="2353" i="true">
                <a:solidFill>
                  <a:srgbClr val="3F3F5A"/>
                </a:solidFill>
                <a:latin typeface="Arimo Italics"/>
                <a:ea typeface="Arimo Italics"/>
                <a:cs typeface="Arimo Italics"/>
                <a:sym typeface="Arimo Italics"/>
              </a:rPr>
              <a:t>“Scrapping a good component costs a few thousand rupees.</a:t>
            </a:r>
          </a:p>
          <a:p>
            <a:pPr algn="l">
              <a:lnSpc>
                <a:spcPts val="3295"/>
              </a:lnSpc>
            </a:pPr>
            <a:r>
              <a:rPr lang="en-US" sz="2353" i="true">
                <a:solidFill>
                  <a:srgbClr val="3F3F5A"/>
                </a:solidFill>
                <a:latin typeface="Arimo Italics"/>
                <a:ea typeface="Arimo Italics"/>
                <a:cs typeface="Arimo Italics"/>
                <a:sym typeface="Arimo Italics"/>
              </a:rPr>
              <a:t> Letting a bad one reach orbit costs the mission.</a:t>
            </a:r>
          </a:p>
          <a:p>
            <a:pPr algn="l">
              <a:lnSpc>
                <a:spcPts val="3295"/>
              </a:lnSpc>
            </a:pPr>
            <a:r>
              <a:rPr lang="en-US" sz="2353" i="true">
                <a:solidFill>
                  <a:srgbClr val="3F3F5A"/>
                </a:solidFill>
                <a:latin typeface="Arimo Italics"/>
                <a:ea typeface="Arimo Italics"/>
                <a:cs typeface="Arimo Italics"/>
                <a:sym typeface="Arimo Italics"/>
              </a:rPr>
              <a:t> Our system is designed around that asymmetry.”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475612" y="359321"/>
            <a:ext cx="2411166" cy="1249101"/>
            <a:chOff x="0" y="0"/>
            <a:chExt cx="3214888" cy="1665468"/>
          </a:xfrm>
        </p:grpSpPr>
        <p:sp>
          <p:nvSpPr>
            <p:cNvPr name="Freeform 84" id="84" descr="Your startup LOGO"/>
            <p:cNvSpPr/>
            <p:nvPr/>
          </p:nvSpPr>
          <p:spPr>
            <a:xfrm flipH="false" flipV="false" rot="0">
              <a:off x="0" y="0"/>
              <a:ext cx="3214840" cy="1665481"/>
            </a:xfrm>
            <a:custGeom>
              <a:avLst/>
              <a:gdLst/>
              <a:ahLst/>
              <a:cxnLst/>
              <a:rect r="r" b="b" t="t" l="l"/>
              <a:pathLst>
                <a:path h="1665481" w="3214840">
                  <a:moveTo>
                    <a:pt x="0" y="832740"/>
                  </a:moveTo>
                  <a:cubicBezTo>
                    <a:pt x="0" y="372873"/>
                    <a:pt x="719719" y="0"/>
                    <a:pt x="1607420" y="0"/>
                  </a:cubicBezTo>
                  <a:cubicBezTo>
                    <a:pt x="2495121" y="0"/>
                    <a:pt x="3214840" y="372873"/>
                    <a:pt x="3214840" y="832740"/>
                  </a:cubicBezTo>
                  <a:cubicBezTo>
                    <a:pt x="3214840" y="1292608"/>
                    <a:pt x="2495121" y="1665481"/>
                    <a:pt x="1607420" y="1665481"/>
                  </a:cubicBezTo>
                  <a:cubicBezTo>
                    <a:pt x="719719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3214888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Agamemnon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29750" y="2362200"/>
            <a:ext cx="8334375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1. Liu, Ting &amp; Zhou — "Isolation Forest", IEEE ICDM 2008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5500" y="2705100"/>
            <a:ext cx="8048625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5" tooltip="https://ieeexplore.ieee.org/document/4781136"/>
              </a:rPr>
              <a:t>ieeexplore.ieee.org/document/4781136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29750" y="3057525"/>
            <a:ext cx="8334375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2. Li et al. — "ECOD: Unsupervised Outlier Detection Using Empirical CDFs", IEEE TKDE 2022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5500" y="3695700"/>
            <a:ext cx="8048625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6" tooltip="https://ieeexplore.ieee.org/document/9737003"/>
              </a:rPr>
              <a:t>ieeexplore.ieee.org/document/9737003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9625" y="6581775"/>
            <a:ext cx="78105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1. Romano, Patterson &amp; Candès — "Conformalized Quantile Regression", NeurIPS 2019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5375" y="7219950"/>
            <a:ext cx="752475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7" tooltip="https://arxiv.org/abs/1905.03222"/>
              </a:rPr>
              <a:t>arxiv.org/abs/1905.03222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9625" y="7572375"/>
            <a:ext cx="78105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2. Rudin — "Stop Explaining Black Box Models for High-Stakes Decisions", Nature Machine Intelligence 2019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5375" y="8210550"/>
            <a:ext cx="752475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8" tooltip="https://arxiv.org/abs/1811.10154"/>
              </a:rPr>
              <a:t>arxiv.org/abs/1811.10154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9625" y="2362200"/>
            <a:ext cx="78105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1. MIL-STD-883, Method 1015 — Burn-In Test for Microelectronics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5375" y="2705100"/>
            <a:ext cx="752475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9" tooltip="https://www.dla.mil/Land-and-Maritime/Business/Standardization/"/>
              </a:rPr>
              <a:t>dla.mil/Land-and-Maritime/Business/Standardization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9625" y="3057525"/>
            <a:ext cx="78105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2. AEC-Q001 — Guidelines for Part Average Testing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375" y="3400425"/>
            <a:ext cx="752475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10" tooltip="http://www.aecouncil.com/AECDocuments.html"/>
              </a:rPr>
              <a:t>aecouncil.com/AECDocuments.html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9625" y="3752850"/>
            <a:ext cx="78105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3. NASA EEE-INST-002 — EEE Parts Selection, Screening, Qualification and Derating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5375" y="4391025"/>
            <a:ext cx="752475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11" tooltip="https://nepp.nasa.gov"/>
              </a:rPr>
              <a:t>nepp.nasa.gov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9625" y="4743450"/>
            <a:ext cx="78105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4. JEDEC JEP122 — Failure Mechanisms and Models for Semiconductor Devices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5375" y="5381625"/>
            <a:ext cx="752475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12" tooltip="https://www.jedec.org/standards-documents"/>
              </a:rPr>
              <a:t>jedec.org/standards-documents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3875" y="1866900"/>
            <a:ext cx="80962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Screening Standards &amp; Failure Physics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1866900"/>
            <a:ext cx="8905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Anomaly Detection Methods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3875" y="6086475"/>
            <a:ext cx="80962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Uncertainty Quantification &amp; Explainability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75612" y="359321"/>
            <a:ext cx="2411166" cy="1249101"/>
            <a:chOff x="0" y="0"/>
            <a:chExt cx="3214888" cy="1665468"/>
          </a:xfrm>
        </p:grpSpPr>
        <p:sp>
          <p:nvSpPr>
            <p:cNvPr name="Freeform 32" id="32" descr="Your startup LOGO"/>
            <p:cNvSpPr/>
            <p:nvPr/>
          </p:nvSpPr>
          <p:spPr>
            <a:xfrm flipH="false" flipV="false" rot="0">
              <a:off x="0" y="0"/>
              <a:ext cx="3214840" cy="1665481"/>
            </a:xfrm>
            <a:custGeom>
              <a:avLst/>
              <a:gdLst/>
              <a:ahLst/>
              <a:cxnLst/>
              <a:rect r="r" b="b" t="t" l="l"/>
              <a:pathLst>
                <a:path h="1665481" w="3214840">
                  <a:moveTo>
                    <a:pt x="0" y="832740"/>
                  </a:moveTo>
                  <a:cubicBezTo>
                    <a:pt x="0" y="372873"/>
                    <a:pt x="719719" y="0"/>
                    <a:pt x="1607420" y="0"/>
                  </a:cubicBezTo>
                  <a:cubicBezTo>
                    <a:pt x="2495121" y="0"/>
                    <a:pt x="3214840" y="372873"/>
                    <a:pt x="3214840" y="832740"/>
                  </a:cubicBezTo>
                  <a:cubicBezTo>
                    <a:pt x="3214840" y="1292608"/>
                    <a:pt x="2495121" y="1665481"/>
                    <a:pt x="1607420" y="1665481"/>
                  </a:cubicBezTo>
                  <a:cubicBezTo>
                    <a:pt x="719719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3214888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Agamemnon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0" y="4181475"/>
            <a:ext cx="8905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u="sng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Related Work &amp; Policy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29750" y="4629150"/>
            <a:ext cx="8334375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1. Ahmed, Hosseinpour, Baraldi, Zio &amp; Lewitschnig — "AI-Based Framework for Burn-In Reduction in Semiconductor Manufacturing", Springer 2024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5500" y="5210175"/>
            <a:ext cx="804862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13" tooltip="https://doi.org/10.1007/978-3-031-59361-1_5"/>
              </a:rPr>
              <a:t>doi.org/10.1007/978-3-031-59361-1_5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29750" y="5524500"/>
            <a:ext cx="8334375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2. Moreno-Lizaranzu &amp; Cuesta — "Improving Electronic Sensor Reliability by Robust Outlier Screening", Sensors 2013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15500" y="6105525"/>
            <a:ext cx="8048625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14" tooltip="https://www.ncbi.nlm.nih.gov/pmc/articles/PMC3859076/"/>
              </a:rPr>
              <a:t>ncbi.nlm.nih.gov/pmc/articles/PMC3859076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29750" y="6419850"/>
            <a:ext cx="8334375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3. Indian Space Policy 2023, Department of Space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44000" y="6867525"/>
            <a:ext cx="8905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u="sng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DAHWIEYDy-4</dc:identifier>
  <dcterms:modified xsi:type="dcterms:W3CDTF">2011-08-01T06:04:30Z</dcterms:modified>
  <cp:revision>1</cp:revision>
  <dc:title>Copy of SIH2026PPT.pptx</dc:title>
</cp:coreProperties>
</file>